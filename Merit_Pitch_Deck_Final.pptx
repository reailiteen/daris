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7C3AED">
              <a:alpha val="25000"/>
            </a:srgbClr>
          </a:solidFill>
          <a:ln w="31750">
            <a:solidFill>
              <a:srgbClr val="0A0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06B6D4">
              <a:alpha val="20000"/>
            </a:srgbClr>
          </a:solidFill>
          <a:ln w="31750">
            <a:solidFill>
              <a:srgbClr val="0A08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274320"/>
            <a:ext cx="1097280" cy="1097280"/>
          </a:xfrm>
          <a:prstGeom prst="ellipse">
            <a:avLst/>
          </a:prstGeom>
          <a:solidFill>
            <a:srgbClr val="F59E0B">
              <a:alpha val="30000"/>
            </a:srgbClr>
          </a:solidFill>
          <a:ln w="25400">
            <a:solidFill>
              <a:srgbClr val="0A08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1280160"/>
            <a:ext cx="4572000" cy="1463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1188720"/>
            <a:ext cx="4572000" cy="1463040"/>
          </a:xfrm>
          <a:prstGeom prst="rect">
            <a:avLst/>
          </a:prstGeom>
          <a:solidFill>
            <a:srgbClr val="7C3AED"/>
          </a:solidFill>
          <a:ln w="38100">
            <a:solidFill>
              <a:srgbClr val="0A08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118872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Merit</a:t>
            </a:r>
            <a:endParaRPr lang="en-US" sz="8000" dirty="0"/>
          </a:p>
        </p:txBody>
      </p:sp>
      <p:sp>
        <p:nvSpPr>
          <p:cNvPr id="8" name="Shape 6"/>
          <p:cNvSpPr/>
          <p:nvPr/>
        </p:nvSpPr>
        <p:spPr>
          <a:xfrm>
            <a:off x="3017520" y="2926080"/>
            <a:ext cx="3291840" cy="47548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2834640"/>
            <a:ext cx="3291840" cy="475488"/>
          </a:xfrm>
          <a:prstGeom prst="roundRect">
            <a:avLst>
              <a:gd name="adj" fmla="val 23077"/>
            </a:avLst>
          </a:prstGeom>
          <a:solidFill>
            <a:srgbClr val="06B6D4"/>
          </a:solidFill>
          <a:ln w="25400">
            <a:solidFill>
              <a:srgbClr val="0A08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283464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0E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Earn Your Screen Time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0" y="3429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More. Unlock More.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4663440"/>
            <a:ext cx="64008" cy="64008"/>
          </a:xfrm>
          <a:prstGeom prst="ellipse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4663440"/>
            <a:ext cx="64008" cy="64008"/>
          </a:xfrm>
          <a:prstGeom prst="ellipse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4663440"/>
            <a:ext cx="64008" cy="64008"/>
          </a:xfrm>
          <a:prstGeom prst="ellipse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73568" y="4663440"/>
            <a:ext cx="64008" cy="64008"/>
          </a:xfrm>
          <a:prstGeom prst="ellipse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" y="4663440"/>
            <a:ext cx="64008" cy="64008"/>
          </a:xfrm>
          <a:prstGeom prst="ellipse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17536" y="4663440"/>
            <a:ext cx="64008" cy="64008"/>
          </a:xfrm>
          <a:prstGeom prst="ellipse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3856" y="4663440"/>
            <a:ext cx="64008" cy="64008"/>
          </a:xfrm>
          <a:prstGeom prst="ellipse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61504" y="4663440"/>
            <a:ext cx="64008" cy="64008"/>
          </a:xfrm>
          <a:prstGeom prst="ellipse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89888" y="4663440"/>
            <a:ext cx="64008" cy="64008"/>
          </a:xfrm>
          <a:prstGeom prst="ellipse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05472" y="4663440"/>
            <a:ext cx="64008" cy="64008"/>
          </a:xfrm>
          <a:prstGeom prst="ellipse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120640" cy="1051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5120640" cy="1051560"/>
          </a:xfrm>
          <a:prstGeom prst="rect">
            <a:avLst/>
          </a:prstGeom>
          <a:solidFill>
            <a:srgbClr val="FFFFFF"/>
          </a:solidFill>
          <a:ln w="27940">
            <a:solidFill>
              <a:srgbClr val="0A08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54864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6128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15214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Time is Out of Control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51790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students spend 7+ hours daily on their phones with zero consequence. No tool holds them accountable in a way that actually sticks.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5120640" cy="1051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286000"/>
            <a:ext cx="5120640" cy="1051560"/>
          </a:xfrm>
          <a:prstGeom prst="rect">
            <a:avLst/>
          </a:prstGeom>
          <a:solidFill>
            <a:srgbClr val="FFFFFF"/>
          </a:solidFill>
          <a:ln w="27940">
            <a:solidFill>
              <a:srgbClr val="0A08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286000"/>
            <a:ext cx="54864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5000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34086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Blockers Only Block — They Don't Motivate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70662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like Opal and Screen Time restrict access but offer no positive feedback loop. Students bypass them constantly or feel punished, not empowered.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5120640" cy="1051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474720"/>
            <a:ext cx="5120640" cy="1051560"/>
          </a:xfrm>
          <a:prstGeom prst="rect">
            <a:avLst/>
          </a:prstGeom>
          <a:solidFill>
            <a:srgbClr val="FFFFFF"/>
          </a:solidFill>
          <a:ln w="27940">
            <a:solidFill>
              <a:srgbClr val="0A08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474720"/>
            <a:ext cx="54864" cy="10515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5387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97280" y="35295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Studying &amp; Screen Time Exist in Separate Worlds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389534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connects academic effort to digital reward. Students who study hard get the same screen access as those who don't.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0" y="1188720"/>
            <a:ext cx="2926080" cy="1051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52160" y="1097280"/>
            <a:ext cx="2926080" cy="1051560"/>
          </a:xfrm>
          <a:prstGeom prst="rect">
            <a:avLst/>
          </a:prstGeom>
          <a:solidFill>
            <a:srgbClr val="FEE2E2"/>
          </a:solidFill>
          <a:ln w="27940">
            <a:solidFill>
              <a:srgbClr val="0A08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1143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7hrs+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5943600" y="166420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screen time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university students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0" y="2377440"/>
            <a:ext cx="2926080" cy="1051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52160" y="2286000"/>
            <a:ext cx="2926080" cy="1051560"/>
          </a:xfrm>
          <a:prstGeom prst="rect">
            <a:avLst/>
          </a:prstGeom>
          <a:solidFill>
            <a:srgbClr val="EDE9FE"/>
          </a:solidFill>
          <a:ln w="27940">
            <a:solidFill>
              <a:srgbClr val="0A08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2331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5943600" y="285292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students say phone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distraction hurts grades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0" y="3566160"/>
            <a:ext cx="2926080" cy="1051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52160" y="3474720"/>
            <a:ext cx="2926080" cy="1051560"/>
          </a:xfrm>
          <a:prstGeom prst="rect">
            <a:avLst/>
          </a:prstGeom>
          <a:solidFill>
            <a:srgbClr val="E0F7FA"/>
          </a:solidFill>
          <a:ln w="27940">
            <a:solidFill>
              <a:srgbClr val="0A08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3520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5943600" y="404164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that reward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studying with screen time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50292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Introducing Merit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4114800" cy="1737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4114800" cy="1737360"/>
          </a:xfrm>
          <a:prstGeom prst="rect">
            <a:avLst/>
          </a:prstGeom>
          <a:solidFill>
            <a:srgbClr val="EDE9FE"/>
          </a:solidFill>
          <a:ln w="27940">
            <a:solidFill>
              <a:srgbClr val="0A08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3258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18013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to Earn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130552"/>
            <a:ext cx="3749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study hours and convert them directly into screen time. The more you study, the more you unlock. Real effort, real reward.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1325880"/>
            <a:ext cx="4114800" cy="1737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234440"/>
            <a:ext cx="4114800" cy="1737360"/>
          </a:xfrm>
          <a:prstGeom prst="rect">
            <a:avLst/>
          </a:prstGeom>
          <a:solidFill>
            <a:srgbClr val="E0F2FE"/>
          </a:solidFill>
          <a:ln w="27940">
            <a:solidFill>
              <a:srgbClr val="0A08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371600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0" y="13258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46320" y="18013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Quiz Verification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2130552"/>
            <a:ext cx="3749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quick sessions under 15 mins, take a fast AI quiz on your course material. Pass it — unlock your apps. Smart, honest, instant.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3017520"/>
            <a:ext cx="4114800" cy="1737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926080"/>
            <a:ext cx="4114800" cy="1737360"/>
          </a:xfrm>
          <a:prstGeom prst="rect">
            <a:avLst/>
          </a:prstGeom>
          <a:solidFill>
            <a:srgbClr val="FEF9C3"/>
          </a:solidFill>
          <a:ln w="27940">
            <a:solidFill>
              <a:srgbClr val="0A08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06324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0175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7200" y="34930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Leaderboards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3822192"/>
            <a:ext cx="3749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private leagues with your friends. See who studied most this week. Compete, motivate each other, and keep each other accountable.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00600" y="3017520"/>
            <a:ext cx="4114800" cy="1737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2926080"/>
            <a:ext cx="4114800" cy="1737360"/>
          </a:xfrm>
          <a:prstGeom prst="rect">
            <a:avLst/>
          </a:prstGeom>
          <a:solidFill>
            <a:srgbClr val="FCE7F3"/>
          </a:solidFill>
          <a:ln w="27940">
            <a:solidFill>
              <a:srgbClr val="0A082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3063240"/>
            <a:ext cx="384048" cy="384048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3520" y="30175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846320" y="34930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 Ride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46320" y="3822192"/>
            <a:ext cx="3749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 tier. Just a free trial, then a subscription. We built this for students serious about their time — not for passive downloaders.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8321040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8321040" cy="822960"/>
          </a:xfrm>
          <a:prstGeom prst="rect">
            <a:avLst/>
          </a:prstGeom>
          <a:solidFill>
            <a:srgbClr val="FFFFFF"/>
          </a:solidFill>
          <a:ln w="27940">
            <a:solidFill>
              <a:srgbClr val="0A08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261872"/>
            <a:ext cx="914400" cy="256032"/>
          </a:xfrm>
          <a:prstGeom prst="roundRect">
            <a:avLst>
              <a:gd name="adj" fmla="val 25000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2618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1 · Student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691640" y="111556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Weekly Study Goal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91640" y="1453896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start of each week, Merit assigns a target number of study hours based on your course load and settings.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103120"/>
            <a:ext cx="8046720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011680"/>
            <a:ext cx="8046720" cy="822960"/>
          </a:xfrm>
          <a:prstGeom prst="rect">
            <a:avLst/>
          </a:prstGeom>
          <a:solidFill>
            <a:srgbClr val="FFFFFF"/>
          </a:solidFill>
          <a:ln w="27940">
            <a:solidFill>
              <a:srgbClr val="0A08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011680"/>
            <a:ext cx="54864" cy="8229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2221992"/>
            <a:ext cx="914400" cy="256032"/>
          </a:xfrm>
          <a:prstGeom prst="roundRect">
            <a:avLst>
              <a:gd name="adj" fmla="val 25000"/>
            </a:avLst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22219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</a:rPr>
              <a:t>2 · Student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965960" y="207568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&amp; Verify Your Sessions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65960" y="2414016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15+ min unlocks: log your study time manually. For quick access under 15 mins: take a fast AI quiz on your subject. Pass = access granted.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97280" y="3063240"/>
            <a:ext cx="7772400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2971800"/>
            <a:ext cx="7772400" cy="822960"/>
          </a:xfrm>
          <a:prstGeom prst="rect">
            <a:avLst/>
          </a:prstGeom>
          <a:solidFill>
            <a:srgbClr val="FFFFFF"/>
          </a:solidFill>
          <a:ln w="27940">
            <a:solidFill>
              <a:srgbClr val="0A08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2971800"/>
            <a:ext cx="54864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70432" y="3182112"/>
            <a:ext cx="914400" cy="256032"/>
          </a:xfrm>
          <a:prstGeom prst="roundRect">
            <a:avLst>
              <a:gd name="adj" fmla="val 25000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0432" y="31821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3 · Merit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240280" y="303580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Screen Time Proportionally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240280" y="337413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study hour converts into app screen time. Finish your weekly goal → unlock your full screen time budget. Study more → earn extra.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371600" y="4023360"/>
            <a:ext cx="7498080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0160" y="3931920"/>
            <a:ext cx="7498080" cy="822960"/>
          </a:xfrm>
          <a:prstGeom prst="rect">
            <a:avLst/>
          </a:prstGeom>
          <a:solidFill>
            <a:srgbClr val="FFFFFF"/>
          </a:solidFill>
          <a:ln w="27940">
            <a:solidFill>
              <a:srgbClr val="0A082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80160" y="3931920"/>
            <a:ext cx="54864" cy="82296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4752" y="4142232"/>
            <a:ext cx="914400" cy="256032"/>
          </a:xfrm>
          <a:prstGeom prst="roundRect">
            <a:avLst>
              <a:gd name="adj" fmla="val 25000"/>
            </a:avLst>
          </a:prstGeom>
          <a:solidFill>
            <a:srgbClr val="DB2777">
              <a:alpha val="12000"/>
            </a:srgbClr>
          </a:solidFill>
          <a:ln w="12700">
            <a:solidFill>
              <a:srgbClr val="DB2777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4752" y="41422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B2777"/>
                </a:solidFill>
              </a:rPr>
              <a:t>4 · Student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514600" y="399592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Compete, Streak &amp; Repeat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514600" y="433425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your weekly progress, climb private leaderboards with friends, and build study streaks. The loop resets every week.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F0E2A"/>
          </a:solidFill>
          <a:ln w="12700">
            <a:solidFill>
              <a:srgbClr val="0F0E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3474720"/>
            <a:ext cx="1828800" cy="1828800"/>
          </a:xfrm>
          <a:prstGeom prst="ellipse">
            <a:avLst/>
          </a:prstGeom>
          <a:solidFill>
            <a:srgbClr val="7C3AED">
              <a:alpha val="20000"/>
            </a:srgbClr>
          </a:solidFill>
          <a:ln w="25400">
            <a:solidFill>
              <a:srgbClr val="0A08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91440"/>
            <a:ext cx="1371600" cy="1371600"/>
          </a:xfrm>
          <a:prstGeom prst="ellipse">
            <a:avLst/>
          </a:prstGeom>
          <a:solidFill>
            <a:srgbClr val="06B6D4">
              <a:alpha val="25000"/>
            </a:srgbClr>
          </a:solidFill>
          <a:ln w="25400">
            <a:solidFill>
              <a:srgbClr val="0A08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Now?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4937760" cy="11155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4937760" cy="1115568"/>
          </a:xfrm>
          <a:prstGeom prst="rect">
            <a:avLst/>
          </a:prstGeom>
          <a:solidFill>
            <a:srgbClr val="F5F3FF"/>
          </a:solidFill>
          <a:ln w="27940">
            <a:solidFill>
              <a:srgbClr val="0A08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51560"/>
            <a:ext cx="45720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1247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88720" y="11247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Generation Addicted to Screens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88720" y="149047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spends more time on phones than sleeping. The digital wellness market is exploding as students desperately seek control — but nothing rewards the right behavior.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4937760" cy="11155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86000"/>
            <a:ext cx="4937760" cy="1115568"/>
          </a:xfrm>
          <a:prstGeom prst="rect">
            <a:avLst/>
          </a:prstGeom>
          <a:solidFill>
            <a:srgbClr val="F5F3FF"/>
          </a:solidFill>
          <a:ln w="27940">
            <a:solidFill>
              <a:srgbClr val="0A08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286000"/>
            <a:ext cx="45720" cy="11155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3591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88720" y="23591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Makes Smart Verification Real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88720" y="272491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Course-specific AI quizzes can now verify real study effort in seconds. This wasn't viable two years ago. It is now — and no one has built it into a screen time product.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4937760" cy="11155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520440"/>
            <a:ext cx="4937760" cy="1115568"/>
          </a:xfrm>
          <a:prstGeom prst="rect">
            <a:avLst/>
          </a:prstGeom>
          <a:solidFill>
            <a:srgbClr val="F5F3FF"/>
          </a:solidFill>
          <a:ln w="27940">
            <a:solidFill>
              <a:srgbClr val="0A08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520440"/>
            <a:ext cx="45720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5935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188720" y="35935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Owns the Positive-Loop Space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88720" y="395935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focus app competes on restriction. Merit competes on reward. The habit psychology here is fundamentally different — and no competitor has claimed this angle.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60720" y="9144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moment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 NOW.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852160" y="21488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400800" y="2148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$16B+ digital wellness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by 2026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52160" y="29718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400800" y="2971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220M+ university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globally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52160" y="37947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400800" y="3794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mover 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study-to-earn model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Landscape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compete on blocking. We compete on earning.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474720" cy="685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3474720" cy="685800"/>
          </a:xfrm>
          <a:prstGeom prst="rect">
            <a:avLst/>
          </a:prstGeom>
          <a:solidFill>
            <a:srgbClr val="FFFFFF"/>
          </a:solidFill>
          <a:ln w="27940">
            <a:solidFill>
              <a:srgbClr val="0A08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399032"/>
            <a:ext cx="347472" cy="347472"/>
          </a:xfrm>
          <a:prstGeom prst="ellipse">
            <a:avLst/>
          </a:prstGeom>
          <a:solidFill>
            <a:srgbClr val="6B7280"/>
          </a:solidFill>
          <a:ln w="25400">
            <a:solidFill>
              <a:srgbClr val="0A08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2893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581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sessions + app blocking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130552"/>
            <a:ext cx="3474720" cy="685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39112"/>
            <a:ext cx="3474720" cy="685800"/>
          </a:xfrm>
          <a:prstGeom prst="rect">
            <a:avLst/>
          </a:prstGeom>
          <a:solidFill>
            <a:srgbClr val="FFFFFF"/>
          </a:solidFill>
          <a:ln w="27940">
            <a:solidFill>
              <a:srgbClr val="0A08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203704"/>
            <a:ext cx="347472" cy="347472"/>
          </a:xfrm>
          <a:prstGeom prst="ellipse">
            <a:avLst/>
          </a:prstGeom>
          <a:solidFill>
            <a:srgbClr val="6B7280"/>
          </a:solidFill>
          <a:ln w="25400">
            <a:solidFill>
              <a:srgbClr val="0A08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0939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Screen Time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3865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parental-style limits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935224"/>
            <a:ext cx="3474720" cy="685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43784"/>
            <a:ext cx="3474720" cy="685800"/>
          </a:xfrm>
          <a:prstGeom prst="rect">
            <a:avLst/>
          </a:prstGeom>
          <a:solidFill>
            <a:srgbClr val="FFFFFF"/>
          </a:solidFill>
          <a:ln w="27940">
            <a:solidFill>
              <a:srgbClr val="0A08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008376"/>
            <a:ext cx="347472" cy="347472"/>
          </a:xfrm>
          <a:prstGeom prst="ellipse">
            <a:avLst/>
          </a:prstGeom>
          <a:solidFill>
            <a:srgbClr val="6B7280"/>
          </a:solidFill>
          <a:ln w="25400">
            <a:solidFill>
              <a:srgbClr val="0A08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28986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1912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focus timer (no blocking)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739896"/>
            <a:ext cx="3474720" cy="685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648456"/>
            <a:ext cx="3474720" cy="685800"/>
          </a:xfrm>
          <a:prstGeom prst="rect">
            <a:avLst/>
          </a:prstGeom>
          <a:solidFill>
            <a:srgbClr val="FFFFFF"/>
          </a:solidFill>
          <a:ln w="27940">
            <a:solidFill>
              <a:srgbClr val="0A08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813048"/>
            <a:ext cx="347472" cy="347472"/>
          </a:xfrm>
          <a:prstGeom prst="ellipse">
            <a:avLst/>
          </a:prstGeom>
          <a:solidFill>
            <a:srgbClr val="6B7280"/>
          </a:solidFill>
          <a:ln w="25400">
            <a:solidFill>
              <a:srgbClr val="0A08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703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Turkey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3995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block, no positive reinforcement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06240" y="1188720"/>
            <a:ext cx="4572000" cy="38404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0" y="11887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</a:t>
            </a:r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</a:rPr>
              <a:t>        Others</a:t>
            </a:r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        Merit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06240" y="1600200"/>
            <a:ext cx="4572000" cy="475488"/>
          </a:xfrm>
          <a:prstGeom prst="rect">
            <a:avLst/>
          </a:prstGeom>
          <a:solidFill>
            <a:srgbClr val="F5F3FF"/>
          </a:solidFill>
          <a:ln w="27940">
            <a:solidFill>
              <a:srgbClr val="0A08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16002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Blocking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40880" y="160020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818120" y="160020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✗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206240" y="2103120"/>
            <a:ext cx="4572000" cy="475488"/>
          </a:xfrm>
          <a:prstGeom prst="rect">
            <a:avLst/>
          </a:prstGeom>
          <a:solidFill>
            <a:srgbClr val="FFFFFF"/>
          </a:solidFill>
          <a:ln w="27940">
            <a:solidFill>
              <a:srgbClr val="0A08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0" y="21031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Verification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40880" y="210312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✗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818120" y="210312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206240" y="2606040"/>
            <a:ext cx="4572000" cy="475488"/>
          </a:xfrm>
          <a:prstGeom prst="rect">
            <a:avLst/>
          </a:prstGeom>
          <a:solidFill>
            <a:srgbClr val="F5F3FF"/>
          </a:solidFill>
          <a:ln w="27940">
            <a:solidFill>
              <a:srgbClr val="0A08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0" y="26060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Time Earned by Effort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040880" y="260604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✗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818120" y="260604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206240" y="3108960"/>
            <a:ext cx="4572000" cy="475488"/>
          </a:xfrm>
          <a:prstGeom prst="rect">
            <a:avLst/>
          </a:prstGeom>
          <a:solidFill>
            <a:srgbClr val="FFFFFF"/>
          </a:solidFill>
          <a:ln w="27940">
            <a:solidFill>
              <a:srgbClr val="0A08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0" y="31089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Quiz Integration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40880" y="310896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✗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818120" y="310896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206240" y="3611880"/>
            <a:ext cx="4572000" cy="475488"/>
          </a:xfrm>
          <a:prstGeom prst="rect">
            <a:avLst/>
          </a:prstGeom>
          <a:solidFill>
            <a:srgbClr val="F5F3FF"/>
          </a:solidFill>
          <a:ln w="27940">
            <a:solidFill>
              <a:srgbClr val="0A08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97680" y="36118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Leaderboards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040880" y="361188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✗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818120" y="361188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4206240" y="4114800"/>
            <a:ext cx="4572000" cy="475488"/>
          </a:xfrm>
          <a:prstGeom prst="rect">
            <a:avLst/>
          </a:prstGeom>
          <a:solidFill>
            <a:srgbClr val="FFFFFF"/>
          </a:solidFill>
          <a:ln w="27940">
            <a:solidFill>
              <a:srgbClr val="0A08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97680" y="41148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Reinforcement Loop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040880" y="411480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✗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818120" y="411480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57200" y="4736592"/>
            <a:ext cx="1920240" cy="256032"/>
          </a:xfrm>
          <a:prstGeom prst="roundRect">
            <a:avLst>
              <a:gd name="adj" fmla="val 25000"/>
            </a:avLst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736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Study-to-Earn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560320" y="4736592"/>
            <a:ext cx="1920240" cy="256032"/>
          </a:xfrm>
          <a:prstGeom prst="roundRect">
            <a:avLst>
              <a:gd name="adj" fmla="val 25000"/>
            </a:avLst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60320" y="4736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</a:rPr>
              <a:t>AI Verification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663440" y="4736592"/>
            <a:ext cx="1920240" cy="256032"/>
          </a:xfrm>
          <a:prstGeom prst="roundRect">
            <a:avLst>
              <a:gd name="adj" fmla="val 25000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63440" y="4736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Leaderboards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766560" y="4736592"/>
            <a:ext cx="1920240" cy="256032"/>
          </a:xfrm>
          <a:prstGeom prst="roundRect">
            <a:avLst>
              <a:gd name="adj" fmla="val 25000"/>
            </a:avLst>
          </a:prstGeom>
          <a:solidFill>
            <a:srgbClr val="DB2777">
              <a:alpha val="15000"/>
            </a:srgbClr>
          </a:solidFill>
          <a:ln w="12700">
            <a:solidFill>
              <a:srgbClr val="DB2777">
                <a:alpha val="4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66560" y="4736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B2777"/>
                </a:solidFill>
              </a:rPr>
              <a:t>Positive Loop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Real &amp; Growing Market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wellness for students is one of the fastest-growing consumer app categories.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2194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2651760" cy="2194560"/>
          </a:xfrm>
          <a:prstGeom prst="rect">
            <a:avLst/>
          </a:prstGeom>
          <a:solidFill>
            <a:srgbClr val="EDE9FE"/>
          </a:solidFill>
          <a:ln w="38100">
            <a:solidFill>
              <a:srgbClr val="0A08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220M+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university &amp; high school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with smartphones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651760" cy="2194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280160"/>
            <a:ext cx="2651760" cy="2194560"/>
          </a:xfrm>
          <a:prstGeom prst="rect">
            <a:avLst/>
          </a:prstGeom>
          <a:solidFill>
            <a:srgbClr val="E0F7FA"/>
          </a:solidFill>
          <a:ln w="38100">
            <a:solidFill>
              <a:srgbClr val="0A08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6916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18M+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3291840" y="2423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2697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English-speaking, tech-forward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students (MENA + West)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1371600"/>
            <a:ext cx="2651760" cy="2194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280160"/>
            <a:ext cx="2651760" cy="2194560"/>
          </a:xfrm>
          <a:prstGeom prst="rect">
            <a:avLst/>
          </a:prstGeom>
          <a:solidFill>
            <a:srgbClr val="FEF9C3"/>
          </a:solidFill>
          <a:ln w="38100">
            <a:solidFill>
              <a:srgbClr val="0A08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Target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16916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500K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126480" y="2423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2697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 &amp; GCC early adopter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campuses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794760"/>
            <a:ext cx="8412480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703320"/>
            <a:ext cx="8412480" cy="1188720"/>
          </a:xfrm>
          <a:prstGeom prst="rect">
            <a:avLst/>
          </a:prstGeom>
          <a:solidFill>
            <a:srgbClr val="0F0E2A"/>
          </a:solidFill>
          <a:ln w="12700">
            <a:solidFill>
              <a:srgbClr val="0F0E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60120" y="3749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wellness apps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12% annually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5176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🎓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063240" y="3749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students are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high-LTV subscribers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166360" y="3749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dominant player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study-reward category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269480" y="3749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advantage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MENA region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pricing. Serious commitment.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377440" y="1325880"/>
            <a:ext cx="4572000" cy="2651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1234440"/>
            <a:ext cx="4572000" cy="2651760"/>
          </a:xfrm>
          <a:prstGeom prst="rect">
            <a:avLst/>
          </a:prstGeom>
          <a:solidFill>
            <a:srgbClr val="0F0E2A"/>
          </a:solidFill>
          <a:ln w="38100">
            <a:solidFill>
              <a:srgbClr val="0A08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1234440"/>
            <a:ext cx="4572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13716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Only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1755648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Plan.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Tricks.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3017520" y="2743200"/>
            <a:ext cx="310896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2743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 Free Trial • Then Subscribe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0" y="3291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 tier. No ads. No data selling.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2651760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4114800"/>
            <a:ext cx="2651760" cy="822960"/>
          </a:xfrm>
          <a:prstGeom prst="rect">
            <a:avLst/>
          </a:prstGeom>
          <a:solidFill>
            <a:srgbClr val="FFFFFF"/>
          </a:solidFill>
          <a:ln w="27940">
            <a:solidFill>
              <a:srgbClr val="0A08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1605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Retention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5312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loops and weekly resets create sticky daily engagement. Students keep coming back.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0" y="4206240"/>
            <a:ext cx="2651760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4114800"/>
            <a:ext cx="2651760" cy="822960"/>
          </a:xfrm>
          <a:prstGeom prst="rect">
            <a:avLst/>
          </a:prstGeom>
          <a:solidFill>
            <a:srgbClr val="FFFFFF"/>
          </a:solidFill>
          <a:ln w="27940">
            <a:solidFill>
              <a:srgbClr val="0A08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41605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👥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703320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via Leaderboards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445312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friend leagues = organic word-of-mouth. Students invite their study group.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26480" y="4206240"/>
            <a:ext cx="2651760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4114800"/>
            <a:ext cx="2651760" cy="822960"/>
          </a:xfrm>
          <a:prstGeom prst="rect">
            <a:avLst/>
          </a:prstGeom>
          <a:solidFill>
            <a:srgbClr val="FFFFFF"/>
          </a:solidFill>
          <a:ln w="27940">
            <a:solidFill>
              <a:srgbClr val="0A08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41605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🏫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37960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Path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445312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&amp; dorm systems as future B2B partners. Bulk subscriptions as a next step.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F0E2A"/>
          </a:solidFill>
          <a:ln w="12700">
            <a:solidFill>
              <a:srgbClr val="0F0E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7C3AED">
              <a:alpha val="25000"/>
            </a:srgbClr>
          </a:solidFill>
          <a:ln w="25400">
            <a:solidFill>
              <a:srgbClr val="0A08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-457200"/>
            <a:ext cx="1371600" cy="1371600"/>
          </a:xfrm>
          <a:prstGeom prst="ellipse">
            <a:avLst/>
          </a:prstGeom>
          <a:solidFill>
            <a:srgbClr val="06B6D4">
              <a:alpha val="20000"/>
            </a:srgbClr>
          </a:solidFill>
          <a:ln w="25400">
            <a:solidFill>
              <a:srgbClr val="0A08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502920"/>
            <a:ext cx="1463040" cy="1463040"/>
          </a:xfrm>
          <a:prstGeom prst="ellipse">
            <a:avLst/>
          </a:prstGeom>
          <a:solidFill>
            <a:srgbClr val="7C3AED"/>
          </a:solidFill>
          <a:ln w="381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50292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" y="2057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Ayham Dwairy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" y="2514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" y="28072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 University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201168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" y="3200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Business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Builder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49040" y="2743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Builder Behind Merit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3840480" y="1097280"/>
            <a:ext cx="2514600" cy="1554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0" y="1005840"/>
            <a:ext cx="2514600" cy="1554480"/>
          </a:xfrm>
          <a:prstGeom prst="rect">
            <a:avLst/>
          </a:prstGeom>
          <a:solidFill>
            <a:srgbClr val="F5F3FF"/>
          </a:solidFill>
          <a:ln w="27940">
            <a:solidFill>
              <a:srgbClr val="0A08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1005840"/>
            <a:ext cx="45720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1097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40480" y="1508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Engineer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0" y="181051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modular, scalable systems from backend to UI. Thinks in architectures, not just features. Ships real products, not just prototypes.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0" y="2834640"/>
            <a:ext cx="2514600" cy="1554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2743200"/>
            <a:ext cx="2514600" cy="1554480"/>
          </a:xfrm>
          <a:prstGeom prst="rect">
            <a:avLst/>
          </a:prstGeom>
          <a:solidFill>
            <a:srgbClr val="F5F3FF"/>
          </a:solidFill>
          <a:ln w="27940">
            <a:solidFill>
              <a:srgbClr val="0A08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49040" y="2743200"/>
            <a:ext cx="45720" cy="1554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0" y="28346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840480" y="3246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Builder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0" y="354787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AI as genuine product leverage — not a gimmick. Has hands-on experience building AI-powered tools and workflows end-to-end.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37960" y="1097280"/>
            <a:ext cx="2514600" cy="1554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46520" y="1005840"/>
            <a:ext cx="2514600" cy="1554480"/>
          </a:xfrm>
          <a:prstGeom prst="rect">
            <a:avLst/>
          </a:prstGeom>
          <a:solidFill>
            <a:srgbClr val="F5F3FF"/>
          </a:solidFill>
          <a:ln w="27940">
            <a:solidFill>
              <a:srgbClr val="0A082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46520" y="1005840"/>
            <a:ext cx="45720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1097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537960" y="1508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Thinker &amp; Entrepreneur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37960" y="181051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products that scale: retention loops, pricing models, unit economics. Operates in both engineering and business without compromise.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537960" y="2834640"/>
            <a:ext cx="2514600" cy="1554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46520" y="2743200"/>
            <a:ext cx="2514600" cy="1554480"/>
          </a:xfrm>
          <a:prstGeom prst="rect">
            <a:avLst/>
          </a:prstGeom>
          <a:solidFill>
            <a:srgbClr val="F5F3FF"/>
          </a:solidFill>
          <a:ln w="27940">
            <a:solidFill>
              <a:srgbClr val="0A082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46520" y="2743200"/>
            <a:ext cx="45720" cy="155448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28346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537960" y="3246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This Problem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37960" y="354787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app comes from lived experience as a university student battling screen distraction. Merit isn't a market bet — it's a personal conviction.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749040" y="4434840"/>
            <a:ext cx="5212080" cy="502920"/>
          </a:xfrm>
          <a:prstGeom prst="rect">
            <a:avLst/>
          </a:prstGeom>
          <a:solidFill>
            <a:srgbClr val="0F0E2A"/>
          </a:solidFill>
          <a:ln w="12700">
            <a:solidFill>
              <a:srgbClr val="0F0E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0" y="44348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founder — from concept to MVP, every line of code, every design decision, every business choice.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25400">
            <a:solidFill>
              <a:srgbClr val="0A0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457200"/>
            <a:ext cx="1371600" cy="1371600"/>
          </a:xfrm>
          <a:prstGeom prst="ellipse">
            <a:avLst/>
          </a:prstGeom>
          <a:solidFill>
            <a:srgbClr val="F59E0B">
              <a:alpha val="28000"/>
            </a:srgbClr>
          </a:solidFill>
          <a:ln w="25400">
            <a:solidFill>
              <a:srgbClr val="0A08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54864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8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R I 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0" y="100584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0" y="2148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Your Screen Time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920240" y="2834640"/>
            <a:ext cx="5486400" cy="1600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2743200"/>
            <a:ext cx="5486400" cy="1600200"/>
          </a:xfrm>
          <a:prstGeom prst="rect">
            <a:avLst/>
          </a:prstGeom>
          <a:solidFill>
            <a:srgbClr val="FFFFFF">
              <a:alpha val="94000"/>
            </a:srgbClr>
          </a:solidFill>
          <a:ln w="31750">
            <a:solidFill>
              <a:srgbClr val="C4B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28346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Future of Student Focus Together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3273552"/>
            <a:ext cx="2743200" cy="27432"/>
          </a:xfrm>
          <a:prstGeom prst="rect">
            <a:avLst/>
          </a:prstGeom>
          <a:solidFill>
            <a:srgbClr val="7C3AED">
              <a:alpha val="5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3346704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Ayham Dwairy  ·  Founder &amp; CEO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65960" y="368503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 University  ·  Doha, Qatar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0" y="47548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for demo • Open to early partnerships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Merit - Pitch Deck</dc:title>
  <dc:subject>PptxGenJS Presentation</dc:subject>
  <dc:creator>PptxGenJS</dc:creator>
  <cp:lastModifiedBy>PptxGenJS</cp:lastModifiedBy>
  <cp:revision>1</cp:revision>
  <dcterms:created xsi:type="dcterms:W3CDTF">2026-04-11T05:12:55Z</dcterms:created>
  <dcterms:modified xsi:type="dcterms:W3CDTF">2026-04-11T05:12:55Z</dcterms:modified>
</cp:coreProperties>
</file>